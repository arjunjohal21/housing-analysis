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Did COVID-19 Drive a Suburban Housing Boom?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Evidence from the FHFA House Price Index · 2010–2024</a:t>
            </a:r>
            <a:br/>
            <a:br/>
            <a:r>
              <a:rPr/>
              <a:t>Krish Prasad · Brandon Melendez-Rodriguez · Arjun Johal · Julian Garcia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Did COVID-19 Drive a Suburban Housing Boom?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Evidence from 431 U.S. Counties · 2010–2024</a:t>
            </a:r>
          </a:p>
          <a:p>
            <a:pPr lvl="0" indent="0" marL="0">
              <a:buNone/>
            </a:pPr>
            <a:r>
              <a:rPr b="1"/>
              <a:t>Krish Prasad · Brandon Melendez-Rodriguez · Arjun Johal · Julian Garcia</a:t>
            </a:r>
          </a:p>
          <a:p>
            <a:pPr lvl="0" indent="0" marL="0">
              <a:buNone/>
            </a:pPr>
            <a:r>
              <a:rPr i="1"/>
              <a:t>Advising a Real Estate Investment Firm · MGT 159T · Spring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World Changed in March 2020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Remote work went from exception to norm</a:t>
            </a:r>
          </a:p>
          <a:p>
            <a:pPr lvl="0"/>
            <a:r>
              <a:rPr/>
              <a:t>Pre-pandemic: ~5% of U.S. workers primarily WFH</a:t>
            </a:r>
          </a:p>
          <a:p>
            <a:pPr lvl="0"/>
            <a:r>
              <a:rPr/>
              <a:t>Peak 2020: ~60% of white-collar workers fully remote</a:t>
            </a:r>
          </a:p>
          <a:p>
            <a:pPr lvl="0"/>
            <a:r>
              <a:rPr/>
              <a:t>Sustained 2022–2024: ~25–30% in hybrid or full-remote roles</a:t>
            </a:r>
          </a:p>
          <a:p>
            <a:pPr lvl="0" indent="0" marL="0">
              <a:buNone/>
            </a:pPr>
            <a:r>
              <a:rPr i="1"/>
              <a:t>Source: BLS American Time Use Survey; Stanford Survey of Working Arrangements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Housing demand broke loose from the office</a:t>
            </a:r>
          </a:p>
          <a:p>
            <a:pPr lvl="0"/>
            <a:r>
              <a:rPr/>
              <a:t>National FHFA HPI rose </a:t>
            </a:r>
            <a:r>
              <a:rPr b="1"/>
              <a:t>~40%</a:t>
            </a:r>
            <a:r>
              <a:rPr/>
              <a:t> from 2020 to 2023</a:t>
            </a:r>
          </a:p>
          <a:p>
            <a:pPr lvl="0"/>
            <a:r>
              <a:rPr/>
              <a:t>Migration data show net outflows from dense urban cores</a:t>
            </a:r>
          </a:p>
          <a:p>
            <a:pPr lvl="0"/>
            <a:r>
              <a:rPr/>
              <a:t>“Zoom towns” — suburbs, mid-size cities — saw bidding wars</a:t>
            </a:r>
          </a:p>
          <a:p>
            <a:pPr lvl="0" indent="0" marL="0">
              <a:buNone/>
            </a:pPr>
            <a:r>
              <a:rPr i="1"/>
              <a:t>Source: FHFA HPI All-Transactions Index; USPS change-of-address data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For a real estate investment firm, this raises a trillion-dollar question: where should capital go next?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Question We Set Out to Answer</a:t>
            </a:r>
          </a:p>
          <a:p>
            <a:pPr lvl="0" indent="0" marL="0">
              <a:buNone/>
            </a:pPr>
            <a:r>
              <a:rPr b="1"/>
              <a:t>Did the COVID-19 shift toward remote work cause housing prices to rise faster in suburban counties than in urban core counties?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a manager would care:</a:t>
            </a:r>
          </a:p>
          <a:p>
            <a:pPr lvl="0"/>
            <a:r>
              <a:rPr/>
              <a:t>Suburban vs. urban allocation drives portfolio construction</a:t>
            </a:r>
          </a:p>
          <a:p>
            <a:pPr lvl="0"/>
            <a:r>
              <a:rPr/>
              <a:t>A real, persistent suburban premium → over-weight suburban acquisitions</a:t>
            </a:r>
          </a:p>
          <a:p>
            <a:pPr lvl="0"/>
            <a:r>
              <a:rPr/>
              <a:t>A premium that’s just a macro rate effect → allocate by yield, not density</a:t>
            </a:r>
          </a:p>
          <a:p>
            <a:pPr lvl="0"/>
            <a:r>
              <a:rPr/>
              <a:t>Knowing </a:t>
            </a:r>
            <a:r>
              <a:rPr i="1"/>
              <a:t>which states</a:t>
            </a:r>
            <a:r>
              <a:rPr/>
              <a:t> show the premium shapes where to deploy capital now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Found</a:t>
            </a:r>
          </a:p>
          <a:p>
            <a:pPr lvl="0" indent="0" marL="0">
              <a:buNone/>
            </a:pPr>
            <a:r>
              <a:rPr b="1"/>
              <a:t>Bottom line:</a:t>
            </a:r>
            <a:r>
              <a:rPr/>
              <a:t> Suburban counties grew </a:t>
            </a:r>
            <a:r>
              <a:rPr b="1"/>
              <a:t>+2.28 percentage points faster</a:t>
            </a:r>
            <a:r>
              <a:rPr/>
              <a:t> per year post-COVID than urban core counties, above and beyond the common housing boom.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Over-weight Large Fringe Metro county acquisitions, with strongest conviction in NY, OR, GA, MA, and WA.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Data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Dataset 1 — FHFA House Price Index</a:t>
            </a:r>
          </a:p>
          <a:p>
            <a:pPr lvl="0"/>
            <a:r>
              <a:rPr/>
              <a:t>Source: Federal Housing Finance Agency</a:t>
            </a:r>
          </a:p>
          <a:p>
            <a:pPr lvl="0"/>
            <a:r>
              <a:rPr/>
              <a:t>105,195 county-year observations · 2,795 counties</a:t>
            </a:r>
          </a:p>
          <a:p>
            <a:pPr lvl="0"/>
            <a:r>
              <a:rPr/>
              <a:t>Spans 1975–2025 (annual, not seasonally adjusted)</a:t>
            </a:r>
          </a:p>
          <a:p>
            <a:pPr lvl="0"/>
            <a:r>
              <a:rPr/>
              <a:t>Key variable: </a:t>
            </a:r>
            <a:r>
              <a:rPr b="1"/>
              <a:t>HPI</a:t>
            </a:r>
            <a:r>
              <a:rPr/>
              <a:t> — repeat-transactions price index, county-specific base year = 100</a:t>
            </a:r>
          </a:p>
          <a:p>
            <a:pPr lvl="0"/>
            <a:r>
              <a:rPr/>
              <a:t>Also reports </a:t>
            </a:r>
            <a:r>
              <a:rPr b="1"/>
              <a:t>Annual Change (%)</a:t>
            </a:r>
            <a:r>
              <a:rPr/>
              <a:t> = year-over-year HPI growth rate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Dataset 2 — CDC NCHS Urban-Rural Classification</a:t>
            </a:r>
          </a:p>
          <a:p>
            <a:pPr lvl="0"/>
            <a:r>
              <a:rPr/>
              <a:t>Source: National Center for Health Statistics</a:t>
            </a:r>
          </a:p>
          <a:p>
            <a:pPr lvl="0"/>
            <a:r>
              <a:rPr/>
              <a:t>3,160 U.S. counties · one row per county · no time dimension</a:t>
            </a:r>
          </a:p>
          <a:p>
            <a:pPr lvl="0"/>
            <a:r>
              <a:rPr b="1"/>
              <a:t>CODE2023</a:t>
            </a:r>
            <a:r>
              <a:rPr/>
              <a:t>: 6-level scale</a:t>
            </a:r>
          </a:p>
          <a:p>
            <a:pPr lvl="1"/>
            <a:r>
              <a:rPr/>
              <a:t>1 = Large Central Metro (most urban)</a:t>
            </a:r>
          </a:p>
          <a:p>
            <a:pPr lvl="1"/>
            <a:r>
              <a:rPr/>
              <a:t>2 = Large Fringe Metro (</a:t>
            </a:r>
            <a:r>
              <a:rPr b="1"/>
              <a:t>suburban</a:t>
            </a:r>
            <a:r>
              <a:rPr/>
              <a:t>)</a:t>
            </a:r>
          </a:p>
          <a:p>
            <a:pPr lvl="1"/>
            <a:r>
              <a:rPr/>
              <a:t>… 6 = Non-core (most rural)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Merged on 5-digit FIPS</a:t>
            </a:r>
            <a:r>
              <a:rPr/>
              <a:t> (</a:t>
            </a:r>
            <a:r>
              <a:rPr>
                <a:latin typeface="Courier"/>
              </a:rPr>
              <a:t>fips = STFIPS × 1000 + CTYFIPS</a:t>
            </a:r>
            <a:r>
              <a:rPr/>
              <a:t>)</a:t>
            </a:r>
          </a:p>
          <a:p>
            <a:pPr lvl="0" indent="0" marL="0">
              <a:buNone/>
            </a:pPr>
            <a:r>
              <a:rPr b="1"/>
              <a:t>Variables used:</a:t>
            </a:r>
            <a:r>
              <a:rPr/>
              <a:t> </a:t>
            </a:r>
            <a:r>
              <a:rPr>
                <a:latin typeface="Courier"/>
              </a:rPr>
              <a:t>HPI</a:t>
            </a:r>
            <a:r>
              <a:rPr/>
              <a:t>, </a:t>
            </a:r>
            <a:r>
              <a:rPr>
                <a:latin typeface="Courier"/>
              </a:rPr>
              <a:t>annual_chg_pct</a:t>
            </a:r>
            <a:r>
              <a:rPr/>
              <a:t>, </a:t>
            </a:r>
            <a:r>
              <a:rPr>
                <a:latin typeface="Courier"/>
              </a:rPr>
              <a:t>chg_w</a:t>
            </a:r>
            <a:r>
              <a:rPr/>
              <a:t> (winsorized), </a:t>
            </a:r>
            <a:r>
              <a:rPr>
                <a:latin typeface="Courier"/>
              </a:rPr>
              <a:t>Year</a:t>
            </a:r>
            <a:r>
              <a:rPr/>
              <a:t>, </a:t>
            </a:r>
            <a:r>
              <a:rPr>
                <a:latin typeface="Courier"/>
              </a:rPr>
              <a:t>suburban</a:t>
            </a:r>
            <a:r>
              <a:rPr/>
              <a:t>, </a:t>
            </a:r>
            <a:r>
              <a:rPr>
                <a:latin typeface="Courier"/>
              </a:rPr>
              <a:t>post_covid</a:t>
            </a:r>
            <a:r>
              <a:rPr/>
              <a:t>, </a:t>
            </a:r>
            <a:r>
              <a:rPr>
                <a:latin typeface="Courier"/>
              </a:rPr>
              <a:t>did_term = suburban × post_covid</a:t>
            </a:r>
            <a:r>
              <a:rPr/>
              <a:t>, </a:t>
            </a:r>
            <a:r>
              <a:rPr>
                <a:latin typeface="Courier"/>
              </a:rPr>
              <a:t>CODE2023</a:t>
            </a:r>
            <a:r>
              <a:rPr/>
              <a:t>, </a:t>
            </a:r>
            <a:r>
              <a:rPr>
                <a:latin typeface="Courier"/>
              </a:rPr>
              <a:t>State</a:t>
            </a:r>
            <a:r>
              <a:rPr/>
              <a:t>, </a:t>
            </a:r>
            <a:r>
              <a:rPr>
                <a:latin typeface="Courier"/>
              </a:rPr>
              <a:t>County</a:t>
            </a:r>
            <a:r>
              <a:rPr/>
              <a:t>, </a:t>
            </a:r>
            <a:r>
              <a:rPr>
                <a:latin typeface="Courier"/>
              </a:rPr>
              <a:t>fips</a:t>
            </a:r>
          </a:p>
          <a:p>
            <a:pPr lvl="0" indent="0" marL="0">
              <a:buNone/>
            </a:pPr>
            <a:r>
              <a:rPr b="1"/>
              <a:t>Constructed variables:</a:t>
            </a:r>
            <a:r>
              <a:rPr/>
              <a:t> </a:t>
            </a:r>
            <a:r>
              <a:rPr>
                <a:latin typeface="Courier"/>
              </a:rPr>
              <a:t>suburban</a:t>
            </a:r>
            <a:r>
              <a:rPr/>
              <a:t> = 1 if CODE2023 == 2 · </a:t>
            </a:r>
            <a:r>
              <a:rPr>
                <a:latin typeface="Courier"/>
              </a:rPr>
              <a:t>post_covid</a:t>
            </a:r>
            <a:r>
              <a:rPr/>
              <a:t> = 1 if Year ≥ 2020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Data Looks Like</a:t>
            </a:r>
          </a:p>
        </p:txBody>
      </p:sp>
      <p:pic>
        <p:nvPicPr>
          <p:cNvPr descr="slides_files/figure-pptx/fig-data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90600"/>
            <a:ext cx="51054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Summary stats (full panel, 105,195 obs):</a:t>
            </a:r>
            <a:r>
              <a:rPr sz="2000"/>
              <a:t> Mean HPI = 258.8 · SD = 203.8 · Median = 196 · Range = 45.7–2,976. Right skew motivates using </a:t>
            </a:r>
            <a:r>
              <a:rPr sz="2000" b="1"/>
              <a:t>annual growth rates</a:t>
            </a:r>
            <a:r>
              <a:rPr sz="2000"/>
              <a:t> (not levels) as the DiD outcome — raw HPI is not comparable across counties because each county has its own base year.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Raw Data to Analysis Sample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"/>
                <a:gridCol w="3441700"/>
                <a:gridCol w="736600"/>
                <a:gridCol w="6350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Filter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Obs. Remaining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Obs. Removed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Raw FHFA HPI observations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105,195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Inner join with CDC NCHS on 5-digit FIPS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105,195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Restrict to analytic window: 2010–2024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41,359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63,836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Keep Large Central Metro (Code 1) 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Large Fringe Metro (Code 2)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6,488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34,871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Require all 15 annual obs per county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(balanced panel)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6,465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Final analytic sample: 6,465 county-year observations · 431 counties · 2010–2024</a:t>
            </a:r>
            <a:r>
              <a:rPr/>
              <a:t> </a:t>
            </a:r>
            <a:r>
              <a:rPr i="1"/>
              <a:t>(365 suburban, 66 urban core)</a:t>
            </a:r>
          </a:p>
          <a:p>
            <a:pPr lvl="0" indent="0" marL="0">
              <a:buNone/>
            </a:pPr>
            <a:r>
              <a:rPr b="1"/>
              <a:t>Key decisions:</a:t>
            </a:r>
          </a:p>
          <a:p>
            <a:pPr lvl="0"/>
            <a:r>
              <a:rPr b="1"/>
              <a:t>2010 start:</a:t>
            </a:r>
            <a:r>
              <a:rPr/>
              <a:t> avoids conflating COVID shock with the 2008–2009 financial crisis recovery</a:t>
            </a:r>
          </a:p>
          <a:p>
            <a:pPr lvl="0"/>
            <a:r>
              <a:rPr b="1"/>
              <a:t>Codes 1 &amp; 2 only:</a:t>
            </a:r>
            <a:r>
              <a:rPr/>
              <a:t> sharpens the treated vs. control contrast; medium/small metros would blur it</a:t>
            </a:r>
          </a:p>
          <a:p>
            <a:pPr lvl="0"/>
            <a:r>
              <a:rPr b="1"/>
              <a:t>Balanced panel:</a:t>
            </a:r>
            <a:r>
              <a:rPr/>
              <a:t> ensures within-county comparisons aren’t confounded by unequal windows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Identification Strategy: Difference-in-Differences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 with a simple comparison:</a:t>
            </a:r>
          </a:p>
          <a:p>
            <a:pPr lvl="0" indent="0" marL="0">
              <a:buNone/>
            </a:pPr>
            <a:r>
              <a:rPr/>
              <a:t>Suburban and urban core counties differ in home size, lot size, income, and housing stock age — all of which affect prices independently of remote work.</a:t>
            </a:r>
          </a:p>
          <a:p>
            <a:pPr lvl="0" indent="0" marL="0">
              <a:buNone/>
            </a:pPr>
            <a:r>
              <a:rPr b="1"/>
              <a:t>Our solution — DiD:</a:t>
            </a:r>
          </a:p>
          <a:p>
            <a:pPr lvl="0" indent="0" marL="0">
              <a:buNone/>
            </a:pPr>
            <a:r>
              <a:rPr/>
              <a:t>Compare </a:t>
            </a:r>
            <a:r>
              <a:rPr i="1"/>
              <a:t>how HPI growth rates changed</a:t>
            </a:r>
            <a:r>
              <a:rPr/>
              <a:t> in suburban vs. urban core counties before and after 2020.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Post-2020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Suburban</a:t>
                      </a:r>
                      <a:r>
                        <a:rPr/>
                        <a:t> (treated)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Urban Core</a:t>
                      </a:r>
                      <a:r>
                        <a:rPr/>
                        <a:t> (control)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Untreated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DiD = (Suburban After − Suburban Before) − (Urban Core After − Urban Core Before)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assumption — Parallel Trends:</a:t>
            </a:r>
          </a:p>
          <a:p>
            <a:pPr lvl="0" indent="0" marL="0">
              <a:buNone/>
            </a:pPr>
            <a:r>
              <a:rPr/>
              <a:t>In the absence of COVID-19, suburban and urban core HPI growth rates would have continued to evolve in parallel.</a:t>
            </a:r>
          </a:p>
          <a:p>
            <a:pPr lvl="0" indent="0" marL="0">
              <a:buNone/>
            </a:pPr>
            <a:r>
              <a:rPr/>
              <a:t>We assess this visually: if the two groups tracked closely from 2010–2019, any post-2020 divergence is attributable to COVID-19’s remote-work effect.</a:t>
            </a:r>
          </a:p>
          <a:p>
            <a:pPr lvl="0" indent="0" marL="0">
              <a:buNone/>
            </a:pPr>
            <a:r>
              <a:rPr b="1"/>
              <a:t>Treatment:</a:t>
            </a:r>
            <a:r>
              <a:rPr/>
              <a:t> COVID-19 shift to remote work beginning 2020</a:t>
            </a:r>
          </a:p>
          <a:p>
            <a:pPr lvl="0" indent="0" marL="0">
              <a:buNone/>
            </a:pPr>
            <a:r>
              <a:rPr b="1"/>
              <a:t>Outcome:</a:t>
            </a:r>
            <a:r>
              <a:rPr/>
              <a:t> Annual HPI growth rate (winsorized at 1st/99th percentile)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1 · The Main Finding</a:t>
            </a:r>
          </a:p>
        </p:txBody>
      </p:sp>
      <p:pic>
        <p:nvPicPr>
          <p:cNvPr descr="slides_files/figure-pptx/fig1-trend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82700"/>
            <a:ext cx="51054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this chart:</a:t>
            </a:r>
            <a:r>
              <a:rPr/>
              <a:t> Both groups grew at nearly identical rates from 2010–2019, validating the parallel-trends assumption. After 2020, the blue suburban line consistently sits above the red urban-core line — that gap is the remote-work signal.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2 · The Core Estimate: 2×2 DiD</a:t>
            </a:r>
          </a:p>
        </p:txBody>
      </p:sp>
      <p:pic>
        <p:nvPicPr>
          <p:cNvPr descr="slides_files/figure-pptx/fig2-2x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math:</a:t>
            </a:r>
            <a:r>
              <a:rPr/>
              <a:t> Urban core grew +4.5 ppt (3.5% → 8%). Suburban grew +6.7 ppt (2.2% → 8.9%). Suburban accelerated </a:t>
            </a:r>
            <a:r>
              <a:rPr b="1"/>
              <a:t>2.28 ppt more</a:t>
            </a:r>
            <a:r>
              <a:rPr/>
              <a:t> — above any macro trend common to both groups.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3 · Is This a National Story?</a:t>
            </a:r>
          </a:p>
        </p:txBody>
      </p:sp>
      <p:pic>
        <p:nvPicPr>
          <p:cNvPr descr="slides_files/figure-pptx/fig3-state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93800"/>
            <a:ext cx="5105400" cy="241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this chart:</a:t>
            </a:r>
            <a:r>
              <a:rPr/>
              <a:t> Blue bars = suburban outperformed urban core within that state post-COVID. The premium is positive in 22 of 28 states — this is not a NY/CA story, it’s a national pattern. Highest premiums in NY, OR, GA, MA, WA.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4 · Context: The Full Urban-Rural Spectrum</a:t>
            </a:r>
          </a:p>
        </p:txBody>
      </p:sp>
      <p:pic>
        <p:nvPicPr>
          <p:cNvPr descr="slides_files/figure-pptx/fig4-spectru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46200"/>
            <a:ext cx="51054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insight:</a:t>
            </a:r>
            <a:r>
              <a:rPr/>
              <a:t> Post-COVID growth rose everywhere — this macro boom (low interest rates, stimulus) affected all county types. The DiD controls for this common trend and isolates the </a:t>
            </a:r>
            <a:r>
              <a:rPr i="1"/>
              <a:t>additional</a:t>
            </a:r>
            <a:r>
              <a:rPr/>
              <a:t> suburban lift. Do not confuse “suburbs grew fast” with “suburbs grew faster </a:t>
            </a:r>
            <a:r>
              <a:rPr i="1"/>
              <a:t>than urban core, above trend</a:t>
            </a:r>
            <a:r>
              <a:rPr/>
              <a:t>” — Figure 2 measures the latter.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Robustness Check 1 &amp; 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Check 1: Tighter pre-period (2015–2024)</a:t>
            </a:r>
          </a:p>
          <a:p>
            <a:pPr lvl="0" indent="0" marL="0">
              <a:buNone/>
            </a:pPr>
            <a:r>
              <a:rPr i="1"/>
              <a:t>Concern:</a:t>
            </a:r>
            <a:r>
              <a:rPr/>
              <a:t> The 2010–2014 post-crisis recovery may have affected suburban and urban core markets at different speeds, creating a false appearance of parallel pre-trends.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Restricting to 2015–2024 makes the pre-trend lines even more parallel. The post-2020 suburban premium persists.</a:t>
            </a:r>
          </a:p>
          <a:p>
            <a:pPr lvl="0" indent="0" marL="0">
              <a:buNone/>
            </a:pPr>
            <a:r>
              <a:rPr i="1"/>
              <a:t>Interpretation: The main finding is not an artifact of the 2008–2009 recovery period.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Check 2: Median vs. Mean Growth Rate</a:t>
            </a:r>
          </a:p>
          <a:p>
            <a:pPr lvl="0" indent="0" marL="0">
              <a:buNone/>
            </a:pPr>
            <a:r>
              <a:rPr i="1"/>
              <a:t>Concern:</a:t>
            </a:r>
            <a:r>
              <a:rPr/>
              <a:t> A handful of high-growth outlier counties could be pulling the group means apart even if the typical county in each group saw similar patterns.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The median and mean tell the same story — pre-2020 lines track closely, post-2020 suburban median exceeds urban core median.</a:t>
            </a:r>
          </a:p>
          <a:p>
            <a:pPr lvl="0" indent="0" marL="0">
              <a:buNone/>
            </a:pPr>
            <a:r>
              <a:rPr i="1"/>
              <a:t>Interpretation: The DiD estimate is not driven by a few extreme counties. The pattern holds for the typical county in each group.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Both checks are shown as figures in the full </a:t>
            </a:r>
            <a:r>
              <a:rPr sz="2000">
                <a:latin typeface="Courier"/>
              </a:rPr>
              <a:t>.qmd</a:t>
            </a:r>
            <a:r>
              <a:rPr sz="2000"/>
              <a:t> analysis file (Check 1 = Figure 7, Check 2 = Figure 8).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Robustness Check 3 · Confidence Intervals on the DiD</a:t>
            </a:r>
          </a:p>
        </p:txBody>
      </p:sp>
      <p:pic>
        <p:nvPicPr>
          <p:cNvPr descr="slides_files/figure-pptx/fig-check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this chart:</a:t>
            </a:r>
            <a:r>
              <a:rPr/>
              <a:t> The 95% confidence intervals on the Suburban Post-COVID bar and the Urban Core Post-COVID bar do not overlap — the 2.28 ppt suburban premium is statistically distinguishable from zero, not a fluke of sampling noise.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of Findings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data show:</a:t>
            </a:r>
          </a:p>
          <a:p>
            <a:pPr lvl="0" indent="-342900" marL="342900">
              <a:buAutoNum type="arabicPeriod"/>
            </a:pPr>
            <a:r>
              <a:rPr/>
              <a:t>Before COVID-19, suburban and urban core HPI growth rates tracked in </a:t>
            </a:r>
            <a:r>
              <a:rPr b="1"/>
              <a:t>near-lockstep</a:t>
            </a:r>
            <a:r>
              <a:rPr/>
              <a:t> for a full decade (2010–2019). The parallel-trends assumption holds.</a:t>
            </a:r>
          </a:p>
          <a:p>
            <a:pPr lvl="0" indent="-342900" marL="342900">
              <a:buAutoNum type="arabicPeriod"/>
            </a:pPr>
            <a:r>
              <a:rPr/>
              <a:t>After 2020, suburban counties grew </a:t>
            </a:r>
            <a:r>
              <a:rPr b="1"/>
              <a:t>2.28 ppt faster per year</a:t>
            </a:r>
            <a:r>
              <a:rPr/>
              <a:t> than urban core counties — above and beyond the macro housing boom that lifted all county types.</a:t>
            </a:r>
          </a:p>
          <a:p>
            <a:pPr lvl="0" indent="-342900" marL="342900">
              <a:buAutoNum type="arabicPeriod"/>
            </a:pPr>
            <a:r>
              <a:rPr/>
              <a:t>This premium is </a:t>
            </a:r>
            <a:r>
              <a:rPr b="1"/>
              <a:t>geographically broad</a:t>
            </a:r>
            <a:r>
              <a:rPr/>
              <a:t>: 22 of 28 states show positive suburban outperformance. The strongest signals are in NY, OR, GA, MA, and WA.</a:t>
            </a:r>
          </a:p>
          <a:p>
            <a:pPr lvl="0" indent="-342900" marL="342900">
              <a:buAutoNum type="arabicPeriod"/>
            </a:pPr>
            <a:r>
              <a:rPr b="1"/>
              <a:t>Robustness holds</a:t>
            </a:r>
            <a:r>
              <a:rPr/>
              <a:t> across tighter windows, median-based checks, and bootstrapped confidence intervals.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data do not fully resolve:</a:t>
            </a:r>
          </a:p>
          <a:p>
            <a:pPr lvl="0"/>
            <a:r>
              <a:rPr/>
              <a:t>The 2020–2021 low-interest-rate environment lifted all markets. The DiD controls for the common trend but cannot perfectly isolate remote work from rate effects.</a:t>
            </a:r>
          </a:p>
          <a:p>
            <a:pPr lvl="0"/>
            <a:r>
              <a:rPr/>
              <a:t>CODE2023 reflects 2023 boundaries — some counties near the urban-suburban boundary may be mis-classified in earlier years.</a:t>
            </a:r>
          </a:p>
          <a:p>
            <a:pPr lvl="0"/>
            <a:r>
              <a:rPr/>
              <a:t>The premium has narrowed since 2022 as rate hikes cooled the entire market. Persistence is uncertain.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</a:t>
            </a:r>
          </a:p>
          <a:p>
            <a:pPr lvl="0" indent="0" marL="0">
              <a:buNone/>
            </a:pPr>
            <a:r>
              <a:rPr b="1"/>
              <a:t>What the firm should do:</a:t>
            </a:r>
          </a:p>
          <a:p>
            <a:pPr lvl="0" indent="0" marL="0">
              <a:buNone/>
            </a:pPr>
            <a:r>
              <a:rPr b="1"/>
              <a:t>1. Over-weight Large Fringe Metro (suburban) acquisitions in the next fund vintage</a:t>
            </a:r>
          </a:p>
          <a:p>
            <a:pPr lvl="0" indent="0" marL="0">
              <a:buNone/>
            </a:pPr>
            <a:r>
              <a:rPr/>
              <a:t>The 2.28 ppt annual premium relative to urban core is real, broad, and statistically robust. For a $500M portfolio, that premium compounds to roughly </a:t>
            </a:r>
            <a:r>
              <a:rPr b="1"/>
              <a:t>$60M in additional asset appreciation over 5 years</a:t>
            </a:r>
            <a:r>
              <a:rPr/>
              <a:t> compared to an equivalent urban-core portfolio (at 8.9% vs. 6.6% blended annual growth, compounded).</a:t>
            </a:r>
          </a:p>
          <a:p>
            <a:pPr lvl="0" indent="0" marL="0">
              <a:buNone/>
            </a:pPr>
            <a:r>
              <a:rPr b="1"/>
              <a:t>2. Prioritize states with the strongest sustained suburban premium</a:t>
            </a:r>
          </a:p>
          <a:p>
            <a:pPr lvl="0" indent="0" marL="0">
              <a:buNone/>
            </a:pPr>
            <a:r>
              <a:rPr/>
              <a:t>Top conviction markets: </a:t>
            </a:r>
            <a:r>
              <a:rPr b="1"/>
              <a:t>New York, Oregon, Georgia, Massachusetts, Washington</a:t>
            </a:r>
            <a:r>
              <a:rPr/>
              <a:t>. These states showed the largest positive gaps across all 5 post-COVID years.</a:t>
            </a:r>
          </a:p>
          <a:p>
            <a:pPr lvl="0" indent="0" marL="0">
              <a:buNone/>
            </a:pPr>
            <a:r>
              <a:rPr b="1"/>
              <a:t>3. Avoid or underweight suburban positions in Wisconsin, California, Michigan, and Florida</a:t>
            </a:r>
          </a:p>
          <a:p>
            <a:pPr lvl="0" indent="0" marL="0">
              <a:buNone/>
            </a:pPr>
            <a:r>
              <a:rPr/>
              <a:t>These are the 4 states where urban core outperformed suburban post-COVID — likely due to urban revitalization dynamics or local policy differences. Investigate before committing capital.</a:t>
            </a:r>
          </a:p>
          <a:p>
            <a:pPr lvl="0" indent="0" marL="0">
              <a:buNone/>
            </a:pPr>
            <a:r>
              <a:rPr b="1"/>
              <a:t>4. Monitor the premium annually</a:t>
            </a:r>
          </a:p>
          <a:p>
            <a:pPr lvl="0" indent="0" marL="0">
              <a:buNone/>
            </a:pPr>
            <a:r>
              <a:rPr/>
              <a:t>The 2022–2024 data show some narrowing as rates rose. Re-run this analysis each year against updated FHFA data to confirm the premium persists before the next fund close.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Limitations</a:t>
            </a:r>
          </a:p>
          <a:p>
            <a:pPr lvl="0" indent="0" marL="0">
              <a:buNone/>
            </a:pPr>
            <a:r>
              <a:rPr b="1"/>
              <a:t>Threats to our conclusion that robustness checks did not fully resolve: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Macro interest-rate confounding</a:t>
            </a:r>
          </a:p>
          <a:p>
            <a:pPr lvl="0" indent="0" marL="0">
              <a:buNone/>
            </a:pPr>
            <a:r>
              <a:rPr/>
              <a:t>Post-COVID growth surged across </a:t>
            </a:r>
            <a:r>
              <a:rPr i="1"/>
              <a:t>all</a:t>
            </a:r>
            <a:r>
              <a:rPr/>
              <a:t> urban-rural levels (Figure 4). The DiD controls for the common trend, but we cannot cleanly separate the remote-work effect from the unprecedented 2020–2021 rate environment. Both hit simultaneously.</a:t>
            </a:r>
          </a:p>
          <a:p>
            <a:pPr lvl="0" indent="0" marL="0">
              <a:buNone/>
            </a:pPr>
            <a:r>
              <a:rPr b="1"/>
              <a:t>2. Static county classifications</a:t>
            </a:r>
          </a:p>
          <a:p>
            <a:pPr lvl="0" indent="0" marL="0">
              <a:buNone/>
            </a:pPr>
            <a:r>
              <a:rPr/>
              <a:t>CODE2023 assigns a fixed urban-rural code to each county based on 2023 boundaries. Counties near the suburban–urban-core boundary may have been misclassified in 2010–2015, introducing measurement error into the treatment indicator.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Premium may be reverting</a:t>
            </a:r>
          </a:p>
          <a:p>
            <a:pPr lvl="0" indent="0" marL="0">
              <a:buNone/>
            </a:pPr>
            <a:r>
              <a:rPr/>
              <a:t>The 2022–2024 years show suburban growth rates falling back toward urban core growth rates. If the premium reflected pandemic-era preferences that are fading, the forward-looking investment case is weaker than the full-period DiD suggests.</a:t>
            </a:r>
          </a:p>
          <a:p>
            <a:pPr lvl="0" indent="0" marL="0">
              <a:buNone/>
            </a:pPr>
            <a:r>
              <a:rPr b="1"/>
              <a:t>4. Parallel trends on levels, not rates</a:t>
            </a:r>
          </a:p>
          <a:p>
            <a:pPr lvl="0" indent="0" marL="0">
              <a:buNone/>
            </a:pPr>
            <a:r>
              <a:rPr/>
              <a:t>We run the DiD on growth rates (the appropriate choice given county-specific HPI base years). Parallel trends on growth rates is a stronger assumption than most DiD applications — a county-level confound that affects growth </a:t>
            </a:r>
            <a:r>
              <a:rPr i="1"/>
              <a:t>rates</a:t>
            </a:r>
            <a:r>
              <a:rPr/>
              <a:t> differently in suburban vs. urban counties would invalidate the estimate.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These limitations counsel </a:t>
            </a:r>
            <a:r>
              <a:rPr sz="2000" b="1"/>
              <a:t>conviction, not certainty</a:t>
            </a:r>
            <a:r>
              <a:rPr sz="2000"/>
              <a:t> — the suburban premium is real and broad, but deploy capital with monitoring and a clear exit thesis if the premium disappears.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Did COVID-19 Drive a Suburban Housing Boom?</dc:title>
  <dc:creator>Krish Prasad · Brandon Melendez-Rodriguez · Arjun Johal · Julian Garcia</dc:creator>
  <cp:keywords/>
  <dcterms:created xsi:type="dcterms:W3CDTF">2026-05-30T21:31:24Z</dcterms:created>
  <dcterms:modified xsi:type="dcterms:W3CDTF">2026-05-30T21:31:24Z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2026-01-01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Evidence from the FHFA House Price Index · 2010–2024</vt:lpwstr>
  </property>
  <property fmtid="{D5CDD505-2E9C-101B-9397-08002B2CF9AE}" pid="12" name="toc-title">
    <vt:lpwstr>Table of contents</vt:lpwstr>
  </property>
</Properties>
</file>